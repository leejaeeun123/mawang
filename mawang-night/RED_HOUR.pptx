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94776" y="457200"/>
            <a:ext cx="1645920" cy="685800"/>
          </a:xfrm>
          <a:prstGeom prst="roundRect">
            <a:avLst/>
          </a:prstGeom>
          <a:solidFill>
            <a:srgbClr val="1F1012"/>
          </a:solidFill>
          <a:ln w="12700">
            <a:solidFill>
              <a:srgbClr val="33242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94776" y="457200"/>
            <a:ext cx="1645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50" b="0" i="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마왕족발 로고
삽입 영역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7772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 b="1" i="0" spc="5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BRAND EXPERIENCE PROJECT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66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RED </a:t>
            </a:r>
            <a:r>
              <a:rPr sz="66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HOUR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2000" b="1" i="0" spc="50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레드 아워 </a:t>
            </a:r>
            <a:r>
              <a:rPr sz="1200" b="0" i="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(가제)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마왕족발 </a:t>
            </a:r>
            <a:r>
              <a:rPr sz="22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브랜드 경험</a:t>
            </a:r>
            <a:r>
              <a:rPr sz="2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 프로젝트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정해진 한 시간, 도시의 밤을 마왕의 레드로 물들인다.
마왕족발의 세계관을 ‘경험’으로 전환하는 브랜드 나이트.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None/>
            </a:pPr>
            <a:r>
              <a:rPr sz="1100" b="0" i="0" spc="10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마왕족발 × RED HOUR   |   </a:t>
            </a:r>
            <a:r>
              <a:rPr sz="11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PROJECT OVERVIEW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01 — 프로젝트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6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왜 </a:t>
            </a:r>
            <a:r>
              <a:rPr sz="26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지금</a:t>
            </a:r>
            <a:r>
              <a:rPr sz="26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, 레드 아워인가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2965704" cy="173736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39696"/>
            <a:ext cx="2636520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강한 캐릭터·세계관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마왕족발은 이미 뚜렷한 캐릭터와 세계관 보유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먹거리를 넘어 ‘경험·문화’ 브랜드로 확장할 시점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4696" y="2011680"/>
            <a:ext cx="2965704" cy="173736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9288" y="2139696"/>
            <a:ext cx="2636520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팬덤 결집 필요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온라인 팬덤을 오프라인에서 결집할 접점 부재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찐팬·인플루언서와의 직접 경험 설계 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4992" y="2011680"/>
            <a:ext cx="2965704" cy="173736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9584" y="2139696"/>
            <a:ext cx="2636520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콘텐츠 = 자산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현장 장면이 곧 바이럴 콘텐츠·UGC가 되는 시대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한 번의 행사가 지속 가능한 자산으로 축적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프로젝트 목표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343400"/>
            <a:ext cx="1728216" cy="141732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471416"/>
            <a:ext cx="1399031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경험 각인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브랜드를 ‘경험’으로 각인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4343400"/>
            <a:ext cx="1728216" cy="141732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53512" y="4471416"/>
            <a:ext cx="1399031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팬덤 결집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오프라인 팬덤 결집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4343400"/>
            <a:ext cx="1728216" cy="141732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1" y="4471416"/>
            <a:ext cx="1399031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콘텐츠 확보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고품질 UGC 대량 확보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59" y="4343400"/>
            <a:ext cx="1728216" cy="141732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1" y="4471416"/>
            <a:ext cx="1399031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제품 테스트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신메뉴·콜라보 주류 검증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4343400"/>
            <a:ext cx="1728216" cy="141732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7072" y="4471416"/>
            <a:ext cx="1399031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사업 확장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차기 팝업·굿즈 레퍼런스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RE-FRAMING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02 — 기획 방향 재정립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공실 팝업이 아니라, </a:t>
            </a:r>
            <a:r>
              <a:rPr sz="2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브랜드 나이트</a:t>
            </a:r>
            <a:r>
              <a:rPr sz="2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4521708" cy="274320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22576"/>
            <a:ext cx="4192524" cy="2505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기존 공실 팝업 (한계)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별도 공간 대관 + 집기·장비 렌탈 필요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운영 스태프·바텐더·DJ 전부 신규 섭외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장시간 운영 → 비용↑ 운영 피로도↑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결국 단순 판매에 머무를 위험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18988" y="2194560"/>
            <a:ext cx="4521708" cy="274320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3579" y="2322576"/>
            <a:ext cx="4192524" cy="2505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RED HOUR (브랜드 나이트)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라운지·클럽의 인프라·인력 그대로 활용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하루에 집중 → 화제성·참여·확산 폭발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판매가 아닌 경험·콘텐츠 중심 설계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비용 대비 브랜드 임팩트 극대화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92262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전환의 핵심 — “오래 여는 팝업”에서 “강렬한 하룻밤의 브랜드 경험”으로.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CONCEPT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03 — 행사 컨셉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92262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30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“가장 마왕스럽게 </a:t>
            </a:r>
            <a:r>
              <a:rPr sz="30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경험하는 시간</a:t>
            </a:r>
            <a:r>
              <a:rPr sz="30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, RED HOUR.”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92262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도시의 밤, 정해진 한 시간에 마왕족발의 세계관을 폭발적으로 경험시킨다. 레드(RED)는 마왕의 시그니처 컬러이자 강렬함·중독·열기의 상징. 그 시간 안에서 음식·공간·사람·콘텐츠가 하나의 장면으로 완성된다.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2953512" cy="155448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295351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 b="1" i="0" spc="1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INTENSE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강렬하고 중독적인 한 시간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0791" y="4297680"/>
            <a:ext cx="2953512" cy="155448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0791" y="4526280"/>
            <a:ext cx="295351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 b="1" i="0" spc="1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RED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마왕의 시그니처 레드 무드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4297680"/>
            <a:ext cx="2953512" cy="155448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87184" y="4526280"/>
            <a:ext cx="295351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 b="1" i="0" spc="1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ONE NIGHT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하루에 집중된 브랜드 경험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SPACE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04 — 공간 방향성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6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라운지·클럽 </a:t>
            </a:r>
            <a:r>
              <a:rPr sz="26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협업형</a:t>
            </a:r>
            <a:r>
              <a:rPr sz="26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 공간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92262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자체 공간을 새로 세팅하는 대신, 이미 갖춰진 라운지·클럽과 협업해 운영 리스크는 낮추고 분위기는 극대화한다.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43200"/>
            <a:ext cx="2965704" cy="173736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871216"/>
            <a:ext cx="2636520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인프라 활용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집기·서빙 인력·운영 시스템 그대로 연계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바텐더·DJ·음향 장비 기구축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4696" y="2743200"/>
            <a:ext cx="2965704" cy="173736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9288" y="2871216"/>
            <a:ext cx="2636520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분위기 자산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조명·사운드·동선 등 공간의 무드 활용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레드 연출로 마왕 세계관과 합치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4992" y="2743200"/>
            <a:ext cx="2965704" cy="173736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9584" y="2871216"/>
            <a:ext cx="2636520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브랜드는 경험에 집중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운영 부담 덜고 콘텐츠·경험 설계 집중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검토 공간은 부록 참조 (어덜트온리/로우키)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709160"/>
            <a:ext cx="4521708" cy="1097280"/>
          </a:xfrm>
          <a:prstGeom prst="roundRect">
            <a:avLst/>
          </a:prstGeom>
          <a:solidFill>
            <a:srgbClr val="1F1012"/>
          </a:solidFill>
          <a:ln w="12700">
            <a:solidFill>
              <a:srgbClr val="33242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452170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🖼  공간 레퍼런스 사진 · 삽입 영역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18988" y="4709160"/>
            <a:ext cx="4521708" cy="1097280"/>
          </a:xfrm>
          <a:prstGeom prst="roundRect">
            <a:avLst/>
          </a:prstGeom>
          <a:solidFill>
            <a:srgbClr val="1F1012"/>
          </a:solidFill>
          <a:ln w="12700">
            <a:solidFill>
              <a:srgbClr val="33242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18988" y="4709160"/>
            <a:ext cx="452170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🖼  레드 연출 무드컷 · 삽입 영역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DRESS CODE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05 — 드레스 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6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DRESS CODE : </a:t>
            </a:r>
            <a:r>
              <a:rPr sz="26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BLACK OR 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92262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입장객 전원에게 블랙 또는 레드 드레스코드를 적용한다. 통일된 컬러는 현장을 하나의 장면으로 묶고, 사진·영상의 완성도와 소속감을 끌어올린다.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34640"/>
            <a:ext cx="2953512" cy="1417320"/>
          </a:xfrm>
          <a:prstGeom prst="roundRect">
            <a:avLst/>
          </a:prstGeom>
          <a:solidFill>
            <a:srgbClr val="151518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295351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 i="0" spc="10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BLACK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마왕의 어두운 세계관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0791" y="2834640"/>
            <a:ext cx="2953512" cy="141732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0791" y="3017520"/>
            <a:ext cx="295351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 i="0" spc="1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RED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강렬한 시그니처 레드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87184" y="2834640"/>
            <a:ext cx="2953512" cy="141732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87184" y="3017520"/>
            <a:ext cx="295351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 i="0" spc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BLACK + RED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가장 마왕스러운 조합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26280"/>
            <a:ext cx="4521708" cy="128016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654296"/>
            <a:ext cx="4192524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현장 연출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레드 조명 + 통일 컬러 → 포토제닉한 공간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컬러별 포토존·입장 연출 운영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18988" y="4526280"/>
            <a:ext cx="4521708" cy="128016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83579" y="4654296"/>
            <a:ext cx="4192524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참여 베네핏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드레스코드 충족 시 입장 혜택·기프트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SNS 인증 → 자연 확산 트리거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STAFF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06 — 스태프 컨셉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6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스태프가 곧 </a:t>
            </a:r>
            <a:r>
              <a:rPr sz="26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마왕 세계관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92262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현장 스태프를 단순 운영 인력이 아니라 마왕 세계관의 캐릭터로 연출한다. 살아 움직이는 캐릭터는 그 자체로 강력한 브랜드 경험이자 포토 콘텐츠가 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43200"/>
            <a:ext cx="2965704" cy="173736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871216"/>
            <a:ext cx="2636520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캐릭터 스타일링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데빌·좀비 무드의 분장·의상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블랙·레드 톤으로 통일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4696" y="2743200"/>
            <a:ext cx="2965704" cy="173736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9288" y="2871216"/>
            <a:ext cx="2636520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소품·디테일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마왕 시그니처 소품·액세서리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존(VIP/바/포토존)별 역할 분장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4992" y="2743200"/>
            <a:ext cx="2965704" cy="173736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9584" y="2871216"/>
            <a:ext cx="2636520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경험 효과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입장 순간부터 세계관 몰입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스태프와의 포토·인증 콘텐츠 유발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709160"/>
            <a:ext cx="9226296" cy="1097280"/>
          </a:xfrm>
          <a:prstGeom prst="roundRect">
            <a:avLst/>
          </a:prstGeom>
          <a:solidFill>
            <a:srgbClr val="1F1012"/>
          </a:solidFill>
          <a:ln w="12700">
            <a:solidFill>
              <a:srgbClr val="33242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922629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🖼  스태프 분장·스타일링 레퍼런스 · 삽입 영역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SCHEDULE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07 — 행사 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SATURDAY ONLY, </a:t>
            </a:r>
            <a:r>
              <a:rPr sz="2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세 개의 장면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92262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토요일 단 하루, 하나의 밤을 세 개의 장면으로 설계한다.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51760"/>
            <a:ext cx="2953512" cy="246888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651760"/>
            <a:ext cx="2953512" cy="713232"/>
          </a:xfrm>
          <a:prstGeom prst="round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724912"/>
            <a:ext cx="26791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18:00–19:00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VIP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493008"/>
            <a:ext cx="266090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3716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rgbClr val="C4141B"/>
              </a:buClr>
              <a:buFont typeface="Pretendard"/>
              <a:buChar char="▪"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초청 30인 내외</a:t>
            </a:r>
          </a:p>
          <a:p>
            <a:pPr algn="l" indent="-137160" marL="13716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rgbClr val="C4141B"/>
              </a:buClr>
              <a:buFont typeface="Pretendard"/>
              <a:buChar char="▪"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신메뉴 선체험 · 콜라보 주류</a:t>
            </a:r>
          </a:p>
          <a:p>
            <a:pPr algn="l" indent="-137160" marL="13716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rgbClr val="C4141B"/>
              </a:buClr>
              <a:buFont typeface="Pretendard"/>
              <a:buChar char="▪"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스타일링 테이블 · 포토타임</a:t>
            </a:r>
          </a:p>
          <a:p>
            <a:pPr algn="l" indent="-137160" marL="13716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rgbClr val="C4141B"/>
              </a:buClr>
              <a:buFont typeface="Pretendard"/>
              <a:buChar char="▪"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VIP 전용 기프트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50791" y="2651760"/>
            <a:ext cx="2953512" cy="246888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50791" y="2651760"/>
            <a:ext cx="2953512" cy="713232"/>
          </a:xfrm>
          <a:prstGeom prst="round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7096" y="2724912"/>
            <a:ext cx="26791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19:00–20:00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RED HOUR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7096" y="3493008"/>
            <a:ext cx="266090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3716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rgbClr val="C4141B"/>
              </a:buClr>
              <a:buFont typeface="Pretendard"/>
              <a:buChar char="▪"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일반 고객 입장</a:t>
            </a:r>
          </a:p>
          <a:p>
            <a:pPr algn="l" indent="-137160" marL="13716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rgbClr val="C4141B"/>
              </a:buClr>
              <a:buFont typeface="Pretendard"/>
              <a:buChar char="▪"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신메뉴 체험 · 콜라보 주류</a:t>
            </a:r>
          </a:p>
          <a:p>
            <a:pPr algn="l" indent="-137160" marL="13716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rgbClr val="C4141B"/>
              </a:buClr>
              <a:buFont typeface="Pretendard"/>
              <a:buChar char="▪"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굿즈 증정 (키캡 키링)</a:t>
            </a:r>
          </a:p>
          <a:p>
            <a:pPr algn="l" indent="-137160" marL="13716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rgbClr val="C4141B"/>
              </a:buClr>
              <a:buFont typeface="Pretendard"/>
              <a:buChar char="▪"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VIP 기대감 → 일반 확장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87184" y="2651760"/>
            <a:ext cx="2953512" cy="246888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87184" y="2651760"/>
            <a:ext cx="2953512" cy="713232"/>
          </a:xfrm>
          <a:prstGeom prst="round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2724912"/>
            <a:ext cx="26791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21:00–01:00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MAWANG NIGHT PARTY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3493008"/>
            <a:ext cx="266090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3716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rgbClr val="C4141B"/>
              </a:buClr>
              <a:buFont typeface="Pretendard"/>
              <a:buChar char="▪"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DJ 공연 · 게스트</a:t>
            </a:r>
          </a:p>
          <a:p>
            <a:pPr algn="l" indent="-137160" marL="13716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rgbClr val="C4141B"/>
              </a:buClr>
              <a:buFont typeface="Pretendard"/>
              <a:buChar char="▪"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전문 바텐더 · 믹스밤 쇼잉</a:t>
            </a:r>
          </a:p>
          <a:p>
            <a:pPr algn="l" indent="-137160" marL="13716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rgbClr val="C4141B"/>
              </a:buClr>
              <a:buFont typeface="Pretendard"/>
              <a:buChar char="▪"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프리드링크 · 상품권 추첨</a:t>
            </a:r>
          </a:p>
          <a:p>
            <a:pPr algn="l" indent="-137160" marL="13716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rgbClr val="C4141B"/>
              </a:buClr>
              <a:buFont typeface="Pretendard"/>
              <a:buChar char="▪"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자유 파티 / 네트워킹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49240"/>
            <a:ext cx="92262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※ 20:00–21:00 인터미션 — 공간 전환 및 파티 세팅 / 현장 전체 전문 촬영으로 콘텐츠 아카이빙.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18:00 — VIP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07-1 — VIP EXPERIENCE (18:00–19:00)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초청 30인, </a:t>
            </a:r>
            <a:r>
              <a:rPr sz="2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기대감의 진원지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2965704" cy="274320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414016"/>
            <a:ext cx="2636520" cy="2505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대상 (30인 내외)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마왕족발 먹방 인플루언서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점주 추천 ‘찐팬’ 고객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브랜드 관계자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인스타 신청자 중 선정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4696" y="2286000"/>
            <a:ext cx="2965704" cy="274320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9288" y="2414016"/>
            <a:ext cx="2636520" cy="2505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프로그램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신메뉴 선체험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마왕 콜라보 주류 시음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스타일링된 테이블 연출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자유 숏폼 촬영 / 포토타임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브랜드 소개(짧고 강하게)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4992" y="2286000"/>
            <a:ext cx="2965704" cy="274320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9584" y="2414016"/>
            <a:ext cx="2636520" cy="2505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VIP GIFT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MAWANG KEYCAP KEYRING 증정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VIP 전용 추가 기프트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찐팬 대상 스페셜 굿즈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92262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※ VIP 세션 전체를 전문 촬영 → 본편 파티의 기대감을 만드는 선행 콘텐츠로 활용.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19:00 — EXPERIENCE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07-2 — RED HOUR EXPERIENCE (19:00–20:00)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기대감을 </a:t>
            </a:r>
            <a:r>
              <a:rPr sz="2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모두의 경험</a:t>
            </a:r>
            <a:r>
              <a:rPr sz="2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으로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4521708" cy="228600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414016"/>
            <a:ext cx="4192524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입장 / 운영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인스타 광고·사전 신청을 통해 일반 고객 입장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드레스코드(BLACK OR RED) 적용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VIP 세션의 무드를 그대로 이어받아 확장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18988" y="2286000"/>
            <a:ext cx="4521708" cy="228600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3579" y="2414016"/>
            <a:ext cx="4192524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경험 콘텐츠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신메뉴 체험 · 콜라보 주류 시음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굿즈 증정 — MAWANG KEYCAP KEYRING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포토존·스태프 연출로 인증 콘텐츠 유발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00600"/>
            <a:ext cx="9226296" cy="1005840"/>
          </a:xfrm>
          <a:prstGeom prst="roundRect">
            <a:avLst/>
          </a:prstGeom>
          <a:solidFill>
            <a:srgbClr val="1F1012"/>
          </a:solidFill>
          <a:ln w="12700">
            <a:solidFill>
              <a:srgbClr val="33242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922629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🖼  현장 경험 컷 (신메뉴·주류·포토존) · 삽입 영역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21:00 — PARTY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07-3 — MAWANG NIGHT PARTY (21:00–01:00)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밤의 본편, </a:t>
            </a:r>
            <a:r>
              <a:rPr sz="2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바이럴이 터지는 시간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4521708" cy="228600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414016"/>
            <a:ext cx="4192524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프로그램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DJ 공연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래퍼 게스트 공연 (가능 시)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전문 바텐더 운영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마왕 레드 사케 믹스밤 쇼잉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자유 파티 / 네트워킹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18988" y="2286000"/>
            <a:ext cx="4521708" cy="228600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3579" y="2414016"/>
            <a:ext cx="4192524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이벤트 (바이럴 트리거)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입장객 전원 프리 드링크 1잔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콜라보 주류 증정 이벤트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마왕족발 상품권 추첨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현장 인증 시 추가 혜택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00600"/>
            <a:ext cx="9226296" cy="1005840"/>
          </a:xfrm>
          <a:prstGeom prst="roundRect">
            <a:avLst/>
          </a:prstGeom>
          <a:solidFill>
            <a:srgbClr val="1F1012"/>
          </a:solidFill>
          <a:ln w="12700">
            <a:solidFill>
              <a:srgbClr val="33242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922629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🖼  파티 무드 / DJ·바텐더 컷 · 삽입 영역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FOOD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08 — 푸드 경험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6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파티에 맞춘 </a:t>
            </a:r>
            <a:r>
              <a:rPr sz="26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시그니처 푸드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92262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기존 족발을 파티·핑거푸드 형태로 재해석해, 마시고 즐기는 밤에 어울리는 두 가지 시그니처를 제안한다.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97480"/>
            <a:ext cx="4521708" cy="210312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825496"/>
            <a:ext cx="4192524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① DEVIL COLD SKEWER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차갑게 즐기는 마왕 시그니처 콜드 꼬치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강렬한 비주얼 + 마왕 특유의 매운맛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한입 사이즈로 술과 페어링·포토제닉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18988" y="2697480"/>
            <a:ext cx="4521708" cy="210312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83579" y="2825496"/>
            <a:ext cx="4192524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② FIRE CUP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한 손에 즐기는 컵 푸드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서서 즐기는 파티 친화형 포맷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레드 비주얼로 인증 콘텐츠 유발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983480"/>
            <a:ext cx="4521708" cy="822960"/>
          </a:xfrm>
          <a:prstGeom prst="roundRect">
            <a:avLst/>
          </a:prstGeom>
          <a:solidFill>
            <a:srgbClr val="1F1012"/>
          </a:solidFill>
          <a:ln w="12700">
            <a:solidFill>
              <a:srgbClr val="33242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452170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🖼  DEVIL COLD SKEWER 사진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18988" y="4983480"/>
            <a:ext cx="4521708" cy="822960"/>
          </a:xfrm>
          <a:prstGeom prst="roundRect">
            <a:avLst/>
          </a:prstGeom>
          <a:solidFill>
            <a:srgbClr val="1F1012"/>
          </a:solidFill>
          <a:ln w="12700">
            <a:solidFill>
              <a:srgbClr val="33242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18988" y="4983480"/>
            <a:ext cx="452170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🖼  FIRE CUP 사진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GOODS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09 — 굿즈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6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갖고 싶은 </a:t>
            </a:r>
            <a:r>
              <a:rPr sz="26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마왕 굿즈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4521708" cy="237744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414016"/>
            <a:ext cx="4192524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MAWANG KEYCAP KEYRING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마왕 캐릭터 키캡을 끼운 DIY 키캡 키링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직접 조립하는 참여형 굿즈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VIP·일반 세션 공통 증정 → 참여·확산 트리거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수량·구성·단가는 견적 부록 참조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18988" y="2286000"/>
            <a:ext cx="4521708" cy="146304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3579" y="2414016"/>
            <a:ext cx="4192524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기타 굿즈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스티커팩 — 마왕 캐릭터·세계관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거울 등 데일리 소품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블랙·레드 무드로 비주얼 톤 통일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18988" y="3886200"/>
            <a:ext cx="4521708" cy="777240"/>
          </a:xfrm>
          <a:prstGeom prst="roundRect">
            <a:avLst/>
          </a:prstGeom>
          <a:solidFill>
            <a:srgbClr val="1F1012"/>
          </a:solidFill>
          <a:ln w="12700">
            <a:solidFill>
              <a:srgbClr val="33242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8988" y="3886200"/>
            <a:ext cx="452170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🖼  굿즈 시안 이미지 삽입 영역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CONTENT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10 — 콘텐츠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92262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8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“이벤트가 아니라, </a:t>
            </a:r>
            <a:r>
              <a:rPr sz="28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콘텐츠다.”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92262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미션형 인스타 이벤트는 최소화하고, 공간·분위기·장면 자체가 콘텐츠가 되도록 설계한다.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26080"/>
            <a:ext cx="2965704" cy="237744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054096"/>
            <a:ext cx="263652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사전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먹방 인플루언서 사전 섭외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숏폼 제작 가이드(필수 컷)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티저 콘텐츠 선공개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4696" y="2926080"/>
            <a:ext cx="2965704" cy="237744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9288" y="3054096"/>
            <a:ext cx="263652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현장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전문 촬영팀 운영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행사 전체 기록·아카이빙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포토존·스태프 연출로 UGC 유발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4992" y="2926080"/>
            <a:ext cx="2965704" cy="237744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9584" y="3054096"/>
            <a:ext cx="263652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사후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종료 후 바이럴 광고 집행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릴스·숏폼 재편집 배포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고품질 UGC·아카이브 축적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AFTER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11 — 행사 이후 활용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6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하룻밤을 </a:t>
            </a:r>
            <a:r>
              <a:rPr sz="26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브랜드 자산</a:t>
            </a:r>
            <a:r>
              <a:rPr sz="26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으로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92262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RED HOUR는 하루로 끝나지 않는다. 현장에서 만든 모든 장면을 지속 가능한 브랜드 자산으로 재활용한다.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43200"/>
            <a:ext cx="2965704" cy="219456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871216"/>
            <a:ext cx="2636520" cy="1956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마케팅 자산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릴스·숏폼 광고 집행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브랜드 SNS 정기 업로드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4696" y="2743200"/>
            <a:ext cx="2965704" cy="219456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9288" y="2871216"/>
            <a:ext cx="2636520" cy="1956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사업 자산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점주 대상 홍보 자료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신메뉴·주류 론칭 콘텐츠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4992" y="2743200"/>
            <a:ext cx="2965704" cy="219456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9584" y="2871216"/>
            <a:ext cx="2636520" cy="1956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확장 자산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차기 팝업·콜라보 레퍼런스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굿즈·IP 사업 테스트 베드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IMPACT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12 — 기대 효과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6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하루의 임팩트, </a:t>
            </a:r>
            <a:r>
              <a:rPr sz="26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세 방향의 효과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2965704" cy="256032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414016"/>
            <a:ext cx="2636520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브랜드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이미지 리프레시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경험 브랜드로 각인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찐팬 로열티 강화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4696" y="2286000"/>
            <a:ext cx="2965704" cy="256032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9288" y="2414016"/>
            <a:ext cx="2636520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마케팅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고품질 UGC·바이럴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MZ 접점 확대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콘텐츠 아카이브 구축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4992" y="2286000"/>
            <a:ext cx="2965704" cy="2560320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9584" y="2414016"/>
            <a:ext cx="2636520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사업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신메뉴·콜라보 주류 테스트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굿즈·IP 사업 가능성 검증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차기 사업 레퍼런스 확보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KEY MESSAGE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554480" cy="384048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spc="2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KEY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922629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8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“RED HOUR는 팝업이 아니라,
마왕족발을 </a:t>
            </a:r>
            <a:r>
              <a:rPr sz="28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‘경험’으로 전환</a:t>
            </a:r>
            <a:r>
              <a:rPr sz="28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하는
브랜드 나이트다.”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92262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가장 마왕스러운 한 시간이, 브랜드의 다음을 만든다.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APPENDIX · VENUE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공간 대여 검토 </a:t>
            </a:r>
            <a:r>
              <a:rPr sz="2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2곳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103120"/>
          <a:ext cx="9226296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835908"/>
                <a:gridCol w="3835908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C414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① 어덜트 온리 (ADULT ONLY)</a:t>
                      </a:r>
                    </a:p>
                  </a:txBody>
                  <a:tcPr marL="73152" marR="73152" marT="27432" marB="27432" anchor="ctr">
                    <a:solidFill>
                      <a:srgbClr val="C414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② 로우키 (LOWKEY)</a:t>
                      </a:r>
                    </a:p>
                  </a:txBody>
                  <a:tcPr marL="73152" marR="73152" marT="27432" marB="27432" anchor="ctr">
                    <a:solidFill>
                      <a:srgbClr val="C4141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E23B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위치</a:t>
                      </a:r>
                    </a:p>
                  </a:txBody>
                  <a:tcPr marL="73152" marR="73152" marT="27432" marB="27432" anchor="ctr">
                    <a:solidFill>
                      <a:srgbClr val="1B1B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가로수길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압구정로데오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E23B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인스타</a:t>
                      </a:r>
                    </a:p>
                  </a:txBody>
                  <a:tcPr marL="73152" marR="73152" marT="27432" marB="27432" anchor="ctr">
                    <a:solidFill>
                      <a:srgbClr val="1B1B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@adultonlybar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@lowkeyseoul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E23B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특징</a:t>
                      </a:r>
                    </a:p>
                  </a:txBody>
                  <a:tcPr marL="73152" marR="73152" marT="27432" marB="27432" anchor="ctr">
                    <a:solidFill>
                      <a:srgbClr val="1B1B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레드·고급, 인테리어가 이미 마왕과 어울리는 편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공간이 넓어 마왕 스타일로 꾸미기 수월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E23B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대관 / 비용</a:t>
                      </a:r>
                    </a:p>
                  </a:txBody>
                  <a:tcPr marL="73152" marR="73152" marT="27432" marB="27432" anchor="ctr">
                    <a:solidFill>
                      <a:srgbClr val="1B1B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평일 600만 / 주말 800만 (VAT별도, 조정 가능)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단순 대관 시간당 30만 · 팝업+파티 시 조정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E23B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주말 대관</a:t>
                      </a:r>
                    </a:p>
                  </a:txBody>
                  <a:tcPr marL="73152" marR="73152" marT="27432" marB="27432" anchor="ctr">
                    <a:solidFill>
                      <a:srgbClr val="1B1B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 (조건 협의)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까다롭지 않음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E23B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콜라보</a:t>
                      </a:r>
                    </a:p>
                  </a:txBody>
                  <a:tcPr marL="73152" marR="73152" marT="27432" marB="27432" anchor="ctr">
                    <a:solidFill>
                      <a:srgbClr val="1B1B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E23B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인력·DJ</a:t>
                      </a:r>
                    </a:p>
                  </a:txBody>
                  <a:tcPr marL="73152" marR="73152" marT="27432" marB="27432" anchor="ctr">
                    <a:solidFill>
                      <a:srgbClr val="1B1B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서버·바텐더 시간당 16,000원 / DJ 15~20만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현장 직원·DJ 바로 연결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623560"/>
            <a:ext cx="92262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※ 비용·조건은 협의 진행 중인 참고용 수치이며, 규모·시간·범위에 따라 조정될 수 있음.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A1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APPENDIX · ① ADULT ONLY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APPENDIX — 공간 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어덜트 온리 </a:t>
            </a:r>
            <a:r>
              <a:rPr sz="22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(가로수길)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4475988" cy="1435608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276856"/>
            <a:ext cx="4146803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공간 / 운영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레드·고급 무드, 인테리어가 마왕과 잘 어울림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지하 1·2층 복층 · 단독 출입구 (가드 배치 고려)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공간 변경 가능 · 브랜드 콜라보 가능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신메뉴 시식·협업 주류, 주방·바 활용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94176"/>
            <a:ext cx="4475988" cy="1435608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822191"/>
            <a:ext cx="4146803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비용 / 인력 (참고용)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대관: 평일 600만 / 주말·공휴일전일 800만 (VAT별도)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규모·시간·방문객·협업 범위에 따라 조정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서버 &amp; 바텐더 시간당 16,000원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서울 DJ(1:30 기준) 150,000~200,000원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239512"/>
            <a:ext cx="4475988" cy="969264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5367528"/>
            <a:ext cx="41468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활용 아이디어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프리드링크·족발체험·키캡/상품권 증정·DJ 파티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SNS 대대적 광고 → 마왕 찐팬 파티로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4708" y="2148840"/>
            <a:ext cx="44759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◆ 사장님 소통 요약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4708" y="2514600"/>
            <a:ext cx="3938869" cy="658368"/>
          </a:xfrm>
          <a:prstGeom prst="roundRect">
            <a:avLst/>
          </a:prstGeom>
          <a:solidFill>
            <a:srgbClr val="1B1B1E"/>
          </a:solidFill>
          <a:ln w="6350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4436" y="2578608"/>
            <a:ext cx="3719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 spc="1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MAWANG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주말 단독 대관·브랜드 콜라보 가능할까요? 비용은요?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1826" y="3264408"/>
            <a:ext cx="3938869" cy="658368"/>
          </a:xfrm>
          <a:prstGeom prst="roundRect">
            <a:avLst/>
          </a:prstGeom>
          <a:solidFill>
            <a:srgbClr val="1F1012"/>
          </a:solidFill>
          <a:ln w="6350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1554" y="3328415"/>
            <a:ext cx="3719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 spc="1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ADULT ONLY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운영은 초대제 중심. 단독 대관 시 초대자만 입장하는 방식이 좋아요.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1826" y="4014215"/>
            <a:ext cx="3938869" cy="658368"/>
          </a:xfrm>
          <a:prstGeom prst="roundRect">
            <a:avLst/>
          </a:prstGeom>
          <a:solidFill>
            <a:srgbClr val="1F1012"/>
          </a:solidFill>
          <a:ln w="6350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1554" y="4078224"/>
            <a:ext cx="3719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 spc="1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ADULT ONLY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평일 600 / 주말 800(VAT별도) 기준, 범위 따라 조정 가능합니다.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1826" y="4764024"/>
            <a:ext cx="3938869" cy="658368"/>
          </a:xfrm>
          <a:prstGeom prst="roundRect">
            <a:avLst/>
          </a:prstGeom>
          <a:solidFill>
            <a:srgbClr val="1F1012"/>
          </a:solidFill>
          <a:ln w="6350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1554" y="4828032"/>
            <a:ext cx="3719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 spc="1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ADULT ONLY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주방·바 활용, 협업 주류 OK. 서버·바텐더 시간당 16,000원, DJ 15~20만.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4708" y="5532120"/>
            <a:ext cx="4475988" cy="246887"/>
          </a:xfrm>
          <a:prstGeom prst="roundRect">
            <a:avLst/>
          </a:prstGeom>
          <a:solidFill>
            <a:srgbClr val="1F1012"/>
          </a:solidFill>
          <a:ln w="12700">
            <a:solidFill>
              <a:srgbClr val="33242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A2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APPENDIX · ② LOWKEY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APPENDIX — 공간 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로우키 </a:t>
            </a:r>
            <a:r>
              <a:rPr sz="22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(압구정로데오)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4475988" cy="1435608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276856"/>
            <a:ext cx="4146803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공간 / 운영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공간이 넓어 마왕 스타일 연출 수월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현장 집기·직원·DJ 바로 연결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주말 대관 무난 · 브랜드 콜라보 가능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조명 밝기·색상 조절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94176"/>
            <a:ext cx="4475988" cy="1202436"/>
          </a:xfrm>
          <a:prstGeom prst="roundRect">
            <a:avLst/>
          </a:prstGeom>
          <a:solidFill>
            <a:srgbClr val="1F1012"/>
          </a:solidFill>
          <a:ln w="9525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822191"/>
            <a:ext cx="4146803" cy="964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비용 / 조건 (참고용)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단순 대관 시간당 30만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팝업+파티 시 보장 매출에 따라 조정 가능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푸드트럭 주차공간 있으나 1층 매장 옆 → 협의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006340"/>
            <a:ext cx="4475988" cy="969264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5134355"/>
            <a:ext cx="41468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◆ </a:t>
            </a: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시즌 / 연출 팁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성수기 지금~가을, 관광객 한겨울 빼고 꾸준 (장마철 회피)</a:t>
            </a:r>
          </a:p>
          <a:p>
            <a:pPr algn="l" indent="-137160" marL="137160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  <a:buClr>
                <a:srgbClr val="C4141B"/>
              </a:buClr>
              <a:buFont typeface="Pretendard"/>
              <a:buChar char="▪"/>
            </a:pPr>
            <a:r>
              <a:rPr sz="10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밤 파티 시 주류 서버·DJ 필요, 레드 사케 믹스밤 고려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4708" y="2148840"/>
            <a:ext cx="44759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◆ 대표(주현성) 소통 요약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4708" y="2514600"/>
            <a:ext cx="3938869" cy="658368"/>
          </a:xfrm>
          <a:prstGeom prst="roundRect">
            <a:avLst/>
          </a:prstGeom>
          <a:solidFill>
            <a:srgbClr val="1B1B1E"/>
          </a:solidFill>
          <a:ln w="6350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4436" y="2578608"/>
            <a:ext cx="3719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 spc="1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MAWANG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주말 팝업+파티 대관 가능? 조명·푸드트럭 세팅도 되나요?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1826" y="3264408"/>
            <a:ext cx="3938869" cy="658368"/>
          </a:xfrm>
          <a:prstGeom prst="roundRect">
            <a:avLst/>
          </a:prstGeom>
          <a:solidFill>
            <a:srgbClr val="1F1012"/>
          </a:solidFill>
          <a:ln w="6350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1554" y="3328415"/>
            <a:ext cx="3719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 spc="1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주현성 대표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넓어서 마왕 스타일로 꾸미기 좋아요. 조명 조절 가능, 직원·DJ 바로 붙습니다.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1826" y="4014215"/>
            <a:ext cx="3938869" cy="658368"/>
          </a:xfrm>
          <a:prstGeom prst="roundRect">
            <a:avLst/>
          </a:prstGeom>
          <a:solidFill>
            <a:srgbClr val="1F1012"/>
          </a:solidFill>
          <a:ln w="6350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1554" y="4078224"/>
            <a:ext cx="3719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 spc="1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주현성 대표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단순 대관 시간당 30만, 팝업+파티면 보장 매출 맞춰 조정 가능.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1826" y="4764024"/>
            <a:ext cx="3938869" cy="658368"/>
          </a:xfrm>
          <a:prstGeom prst="roundRect">
            <a:avLst/>
          </a:prstGeom>
          <a:solidFill>
            <a:srgbClr val="1F1012"/>
          </a:solidFill>
          <a:ln w="6350">
            <a:solidFill>
              <a:srgbClr val="C4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1554" y="4828032"/>
            <a:ext cx="3719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 spc="1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주현성 대표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푸드트럭은 1층 매장 옆이라 협의 필요, 시즌은 장마철만 피하면 무난.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4708" y="5532120"/>
            <a:ext cx="4475988" cy="246887"/>
          </a:xfrm>
          <a:prstGeom prst="roundRect">
            <a:avLst/>
          </a:prstGeom>
          <a:solidFill>
            <a:srgbClr val="1F1012"/>
          </a:solidFill>
          <a:ln w="12700">
            <a:solidFill>
              <a:srgbClr val="33242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A3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APPENDIX · QUOTE ①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APPENDIX — 굿즈 견적 ① 뉴리디파인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MAWANG KEYCAP KEYRING </a:t>
            </a:r>
            <a:r>
              <a:rPr sz="20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견적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920240"/>
          <a:ext cx="9226296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657600"/>
                <a:gridCol w="1097280"/>
                <a:gridCol w="1188720"/>
                <a:gridCol w="1819656"/>
              </a:tblGrid>
              <a:tr h="26025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</a:t>
                      </a:r>
                    </a:p>
                  </a:txBody>
                  <a:tcPr marL="73152" marR="73152" marT="27432" marB="27432" anchor="ctr">
                    <a:solidFill>
                      <a:srgbClr val="C414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품목</a:t>
                      </a:r>
                    </a:p>
                  </a:txBody>
                  <a:tcPr marL="73152" marR="73152" marT="27432" marB="27432" anchor="ctr">
                    <a:solidFill>
                      <a:srgbClr val="C414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수량</a:t>
                      </a:r>
                    </a:p>
                  </a:txBody>
                  <a:tcPr marL="73152" marR="73152" marT="27432" marB="27432" anchor="ctr">
                    <a:solidFill>
                      <a:srgbClr val="C414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단가</a:t>
                      </a:r>
                    </a:p>
                  </a:txBody>
                  <a:tcPr marL="73152" marR="73152" marT="27432" marB="27432" anchor="ctr">
                    <a:solidFill>
                      <a:srgbClr val="C414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금액</a:t>
                      </a:r>
                    </a:p>
                  </a:txBody>
                  <a:tcPr marL="73152" marR="73152" marT="27432" marB="27432" anchor="ctr">
                    <a:solidFill>
                      <a:srgbClr val="C4141B"/>
                    </a:solidFill>
                  </a:tcPr>
                </a:tc>
              </a:tr>
              <a:tr h="260252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4F0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 A (3구)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3구 키링 (투명/블랙/화이트)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2,900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2,900,000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</a:tr>
              <a:tr h="260252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4F0E8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풀컬러 키캡 (OEM, 체리)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3,000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1,100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3,300,000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</a:tr>
              <a:tr h="260252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4F0E8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개별 조립·포장 (3구)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600,000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</a:tr>
              <a:tr h="260252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4F0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 B (2구)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2구 키링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2,400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2,400,000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</a:tr>
              <a:tr h="260252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4F0E8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풀컬러 키캡 (OEM, 체리)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1,100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2,200,000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</a:tr>
              <a:tr h="260252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4F0E8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개별 조립·포장 (2구)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400,000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</a:tr>
              <a:tr h="260252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4F0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 C (1구)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1구 키링 (투명)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1,200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1,200,000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</a:tr>
              <a:tr h="260252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4F0E8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풀컬러 키캡 (OEM, 체리)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1,100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1,100,000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</a:tr>
              <a:tr h="260252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4F0E8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개별 조립·포장 (1구)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9C9AA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200,000</a:t>
                      </a:r>
                    </a:p>
                  </a:txBody>
                  <a:tcPr marL="73152" marR="73152" marT="27432" marB="27432" anchor="ctr">
                    <a:solidFill>
                      <a:srgbClr val="151518"/>
                    </a:solidFill>
                  </a:tcPr>
                </a:tc>
              </a:tr>
              <a:tr h="260252">
                <a:tc gridSpan="4"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4F0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 A 합계 (VAT 포함)</a:t>
                      </a:r>
                    </a:p>
                  </a:txBody>
                  <a:tcPr marL="73152" marR="73152" marT="27432" marB="27432" anchor="ctr">
                    <a:solidFill>
                      <a:srgbClr val="1F1012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4F0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6,800,000</a:t>
                      </a:r>
                    </a:p>
                  </a:txBody>
                  <a:tcPr marL="73152" marR="73152" marT="27432" marB="27432" anchor="ctr">
                    <a:solidFill>
                      <a:srgbClr val="1F1012"/>
                    </a:solidFill>
                  </a:tcPr>
                </a:tc>
              </a:tr>
              <a:tr h="260252">
                <a:tc gridSpan="4"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4F0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 B 합계 (VAT 포함)</a:t>
                      </a:r>
                    </a:p>
                  </a:txBody>
                  <a:tcPr marL="73152" marR="73152" marT="27432" marB="27432" anchor="ctr">
                    <a:solidFill>
                      <a:srgbClr val="1F1012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4F0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5,000,000</a:t>
                      </a:r>
                    </a:p>
                  </a:txBody>
                  <a:tcPr marL="73152" marR="73152" marT="27432" marB="27432" anchor="ctr">
                    <a:solidFill>
                      <a:srgbClr val="1F1012"/>
                    </a:solidFill>
                  </a:tcPr>
                </a:tc>
              </a:tr>
              <a:tr h="260256">
                <a:tc gridSpan="4"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4F0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 C 합계 (VAT 포함)</a:t>
                      </a:r>
                    </a:p>
                  </a:txBody>
                  <a:tcPr marL="73152" marR="73152" marT="27432" marB="27432" anchor="ctr">
                    <a:solidFill>
                      <a:srgbClr val="1F1012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4F0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2,500,000</a:t>
                      </a:r>
                    </a:p>
                  </a:txBody>
                  <a:tcPr marL="73152" marR="73152" marT="27432" marB="27432" anchor="ctr">
                    <a:solidFill>
                      <a:srgbClr val="1F101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486400"/>
            <a:ext cx="92262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비고 · 풀컬러 키캡 디자인 5종까지 할인 · 대량 제작 보통 2~3주(매우 많으면 소폭 증가) · 개별 조립·포장 제외 시 해당 금액만 차감.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A4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7562088"/>
          </a:xfrm>
          <a:prstGeom prst="rect">
            <a:avLst/>
          </a:prstGeom>
          <a:solidFill>
            <a:srgbClr val="C4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마왕</a:t>
            </a:r>
            <a:r>
              <a:rPr sz="14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족발</a:t>
            </a:r>
            <a:r>
              <a:rPr sz="800" b="1" i="0" spc="2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   RED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896" y="384048"/>
            <a:ext cx="4114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200">
                <a:solidFill>
                  <a:srgbClr val="E23B3F"/>
                </a:solidFill>
                <a:latin typeface="Pretendard"/>
                <a:ea typeface="Pretendard"/>
                <a:cs typeface="Pretendard"/>
              </a:rPr>
              <a:t>APPENDIX · QUOTE ②    </a:t>
            </a:r>
            <a:r>
              <a:rPr sz="1100" b="1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A5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spc="3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APPENDIX — 굿즈 견적 ② 브랜다즐 (BRANDAZZLE)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92262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solidFill>
                  <a:srgbClr val="F4F0E8"/>
                </a:solidFill>
                <a:latin typeface="Pretendard"/>
                <a:ea typeface="Pretendard"/>
                <a:cs typeface="Pretendard"/>
              </a:rPr>
              <a:t>MAWANG KEYCAP KEYRING </a:t>
            </a:r>
            <a:r>
              <a:rPr sz="2000" b="1" i="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견적 (비교)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9226296" cy="2377440"/>
          </a:xfrm>
          <a:prstGeom prst="roundRect">
            <a:avLst/>
          </a:prstGeom>
          <a:solidFill>
            <a:srgbClr val="1B1B1E"/>
          </a:solidFill>
          <a:ln w="9525">
            <a:solidFill>
              <a:srgbClr val="332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8677656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브랜다즐 견적서(PDF) 수신 시 — 뉴리디파인과 동일한 표 형식으로
품목·수량·단가·금액을 반영합니다.</a:t>
            </a:r>
          </a:p>
          <a:p>
            <a:pPr algn="ctr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문의: cs@brandazzle.kr · brandazzle.kr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92262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9C9AA0"/>
                </a:solidFill>
                <a:latin typeface="Pretendard"/>
                <a:ea typeface="Pretendard"/>
                <a:cs typeface="Pretendard"/>
              </a:rPr>
              <a:t>※ 브랜다즐 견적서 재첨부 시 본 슬라이드에 정식 수치 반영 예정. 두 업체 견적을 나란히 비교해 발주처를 결정.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6995159"/>
            <a:ext cx="9226296" cy="10972"/>
          </a:xfrm>
          <a:prstGeom prst="rect">
            <a:avLst/>
          </a:prstGeom>
          <a:solidFill>
            <a:srgbClr val="332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059168"/>
            <a:ext cx="9226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0" spc="100">
                <a:solidFill>
                  <a:srgbClr val="6C6A70"/>
                </a:solidFill>
                <a:latin typeface="Pretendard"/>
                <a:ea typeface="Pretendard"/>
                <a:cs typeface="Pretendard"/>
              </a:rPr>
              <a:t>RED HOUR · 마왕족발 브랜드 경험 프로젝트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0536" y="7059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spc="100">
                <a:solidFill>
                  <a:srgbClr val="C4141B"/>
                </a:solidFill>
                <a:latin typeface="Pretendard"/>
                <a:ea typeface="Pretendard"/>
                <a:cs typeface="Pretendard"/>
              </a:rPr>
              <a:t>A5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